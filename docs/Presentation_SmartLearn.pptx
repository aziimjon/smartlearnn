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0" r:id="rId5"/>
    <p:sldId id="259" r:id="rId6"/>
    <p:sldId id="267" r:id="rId7"/>
    <p:sldId id="261" r:id="rId8"/>
    <p:sldId id="268" r:id="rId9"/>
    <p:sldId id="269" r:id="rId10"/>
    <p:sldId id="262" r:id="rId11"/>
    <p:sldId id="263" r:id="rId12"/>
    <p:sldId id="264" r:id="rId13"/>
    <p:sldId id="265" r:id="rId14"/>
    <p:sldId id="266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5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53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0704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1417320" cy="6858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36576"/>
            <a:ext cx="685800" cy="6858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4983480"/>
            <a:ext cx="9144000" cy="73152"/>
          </a:xfrm>
          <a:prstGeom prst="rect">
            <a:avLst/>
          </a:prstGeom>
          <a:solidFill>
            <a:srgbClr val="8B1A2E"/>
          </a:solidFill>
          <a:ln w="12700">
            <a:solidFill>
              <a:srgbClr val="8B1A2E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1691640" y="8686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914400" y="14173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SmartLearn</a:t>
            </a:r>
            <a:endParaRPr lang="en-US" sz="4200" dirty="0"/>
          </a:p>
        </p:txBody>
      </p:sp>
      <p:sp>
        <p:nvSpPr>
          <p:cNvPr id="7" name="Text 3"/>
          <p:cNvSpPr/>
          <p:nvPr/>
        </p:nvSpPr>
        <p:spPr>
          <a:xfrm>
            <a:off x="914400" y="21488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Learning Management System</a:t>
            </a:r>
            <a:endParaRPr lang="en-US" dirty="0"/>
          </a:p>
          <a:p>
            <a:pPr algn="ctr"/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with Socratic Coaching Module</a:t>
            </a:r>
            <a:endParaRPr lang="en-US" dirty="0"/>
          </a:p>
          <a:p>
            <a:pPr algn="ctr"/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914400" y="2852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Bachelor's Thesis  ·  Riga Nordic University  ·  2026</a:t>
            </a:r>
            <a:b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Systems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7640" y="3291840"/>
            <a:ext cx="1188720" cy="11887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943600" y="34015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</a:t>
            </a:r>
            <a:r>
              <a:rPr lang="en-US" sz="14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Kurbanov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Azimzhon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5943600" y="36576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5943600" y="39136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spcBef>
                <a:spcPts val="300"/>
              </a:spcBef>
            </a:pPr>
            <a:r>
              <a:rPr lang="en" sz="1200" b="0" dirty="0">
                <a:solidFill>
                  <a:srgbClr val="606060"/>
                </a:solidFill>
                <a:latin typeface="Century Gothic"/>
              </a:rPr>
              <a:t>42484 Information Systems</a:t>
            </a:r>
          </a:p>
          <a:p>
            <a:pPr algn="r">
              <a:spcBef>
                <a:spcPts val="300"/>
              </a:spcBef>
            </a:pPr>
            <a:r>
              <a:rPr lang="en" sz="1200" b="0" dirty="0" err="1">
                <a:solidFill>
                  <a:srgbClr val="606060"/>
                </a:solidFill>
                <a:latin typeface="Century Gothic"/>
              </a:rPr>
              <a:t>Dr.sc.ing</a:t>
            </a:r>
            <a:r>
              <a:rPr lang="en" sz="1200" b="0" dirty="0">
                <a:solidFill>
                  <a:srgbClr val="606060"/>
                </a:solidFill>
                <a:latin typeface="Century Gothic"/>
              </a:rPr>
              <a:t>., Prof. Jelena </a:t>
            </a:r>
            <a:r>
              <a:rPr lang="en" sz="1200" b="0" dirty="0" err="1">
                <a:solidFill>
                  <a:srgbClr val="606060"/>
                </a:solidFill>
                <a:latin typeface="Century Gothic"/>
              </a:rPr>
              <a:t>Caiko</a:t>
            </a:r>
            <a:endParaRPr lang="en" sz="1200" b="0" dirty="0">
              <a:solidFill>
                <a:srgbClr val="606060"/>
              </a:solidFill>
              <a:latin typeface="Century Gothic"/>
            </a:endParaRPr>
          </a:p>
          <a:p>
            <a:pPr algn="r">
              <a:spcBef>
                <a:spcPts val="300"/>
              </a:spcBef>
            </a:pPr>
            <a:r>
              <a:rPr lang="en" sz="1200" b="0" dirty="0">
                <a:solidFill>
                  <a:srgbClr val="606060"/>
                </a:solidFill>
                <a:latin typeface="Century Gothic"/>
              </a:rPr>
              <a:t>2026</a:t>
            </a:r>
          </a:p>
          <a:p>
            <a:pPr marL="0" indent="0" algn="r">
              <a:buNone/>
            </a:pP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5943600" y="41696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3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36576"/>
            <a:ext cx="123444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1417320" cy="6858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36576"/>
            <a:ext cx="685800" cy="6858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4983480"/>
            <a:ext cx="9144000" cy="73152"/>
          </a:xfrm>
          <a:prstGeom prst="rect">
            <a:avLst/>
          </a:prstGeom>
          <a:solidFill>
            <a:srgbClr val="8B1A2E"/>
          </a:solidFill>
          <a:ln w="12700">
            <a:solidFill>
              <a:srgbClr val="8B1A2E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1737360" y="128016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Framework of Research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1737360" y="731520"/>
            <a:ext cx="62179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274320" y="914400"/>
            <a:ext cx="4206240" cy="34747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384048" y="914400"/>
            <a:ext cx="3986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Problem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274320" y="1261872"/>
            <a:ext cx="4206240" cy="150876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11480" y="132588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LMS platforms give direct AI answers and lack personalisation. No published system integrates RAG + Socratic dialogue + personalised tests + student DB in one platform.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709160" y="914400"/>
            <a:ext cx="4206240" cy="347472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818888" y="914400"/>
            <a:ext cx="3986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of Study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709160" y="1261872"/>
            <a:ext cx="4206240" cy="150876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846320" y="132588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systems for educational process management.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274320" y="2926080"/>
            <a:ext cx="4206240" cy="3474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84048" y="2926080"/>
            <a:ext cx="3986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of Study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274320" y="3273552"/>
            <a:ext cx="4206240" cy="150876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11480" y="333756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design and AI coaching module for a configurable, domain-agnostic, multi-role LMS.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4709160" y="2926080"/>
            <a:ext cx="4206240" cy="34747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818888" y="2926080"/>
            <a:ext cx="3986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4709160" y="3273552"/>
            <a:ext cx="4206240" cy="150876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846320" y="333756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domain-agnostic LMS with student-profile-driven RAG and Socratic constraints will deliver a more adaptive learning experience than any existing system — confirmed by 13 peer-reviewed sources.</a:t>
            </a:r>
            <a:endParaRPr lang="en-US" sz="130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36576"/>
            <a:ext cx="123444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1417320" cy="6858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36576"/>
            <a:ext cx="685800" cy="6858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4983480"/>
            <a:ext cx="9144000" cy="73152"/>
          </a:xfrm>
          <a:prstGeom prst="rect">
            <a:avLst/>
          </a:prstGeom>
          <a:solidFill>
            <a:srgbClr val="8B1A2E"/>
          </a:solidFill>
          <a:ln w="12700">
            <a:solidFill>
              <a:srgbClr val="8B1A2E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1737360" y="128016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— What No One Did Before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1737360" y="731520"/>
            <a:ext cx="62179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595360" cy="173736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Socratic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Pers. Tests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DB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KG-RAG  [Dong 2025]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SocraticAI  [Sunil 2025]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Canvas Quiz  [Ali 2025]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RAG-PRISM  [Lin 2025]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SmartLearn  (this work)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89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89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89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89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274320" y="4041648"/>
            <a:ext cx="8595360" cy="54864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411480" y="404164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SmartLearn is the FIRST system to combine all four capabilities in one operational, domain-agnostic LMS. </a:t>
            </a:r>
            <a:br>
              <a:rPr lang="en-US" sz="14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a concept — the backend, mobile app, and admin panel are already running.</a:t>
            </a:r>
            <a:endParaRPr lang="en-US" sz="14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36576"/>
            <a:ext cx="123444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1417320" cy="6858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36576"/>
            <a:ext cx="685800" cy="6858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4983480"/>
            <a:ext cx="9144000" cy="73152"/>
          </a:xfrm>
          <a:prstGeom prst="rect">
            <a:avLst/>
          </a:prstGeom>
          <a:solidFill>
            <a:srgbClr val="8B1A2E"/>
          </a:solidFill>
          <a:ln w="12700">
            <a:solidFill>
              <a:srgbClr val="8B1A2E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1737360" y="128016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/ Decisions to Solve the Problem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1737360" y="731520"/>
            <a:ext cx="62179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74320" y="89611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KG-RAG [Dong et al., 2025]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457200" y="139903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Graph-enhanced RAG for tutoring — +35% assessment scores (n=76). No Socratic dialogue. No personalised tests.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274320" y="190195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SocraticAI [Sunil &amp; Thakkar, 2025]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57200" y="240487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guided by structured constraints — 75%+ students showed improved reasoning. No student DB. No adaptive tests.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274320" y="290779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Quiz [Ali et al., 2025]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57200" y="341071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generates questions from course material. No Socratic dialogue. No profile conditioning.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74320" y="391363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[Swacha &amp; Gracel, Appl. Sci. 2025]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" y="441655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RAG-LMS studies reviewed (2022–2025). None combine all four capabilities. Personalisation gap confirmed.</a:t>
            </a:r>
            <a:endParaRPr lang="en-US" sz="13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36576"/>
            <a:ext cx="123444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1417320" cy="6858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4983480"/>
            <a:ext cx="9144000" cy="73152"/>
          </a:xfrm>
          <a:prstGeom prst="rect">
            <a:avLst/>
          </a:prstGeom>
          <a:solidFill>
            <a:srgbClr val="8B1A2E"/>
          </a:solidFill>
          <a:ln w="12700">
            <a:solidFill>
              <a:srgbClr val="8B1A2E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1737360" y="128016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Defended Theses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1737360" y="731520"/>
            <a:ext cx="62179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274320" y="914400"/>
            <a:ext cx="859536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274320" y="914400"/>
            <a:ext cx="1920240" cy="347472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84048" y="914400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been offered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11480" y="1298448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Socratic AI coaching module integrated into a domain-agnostic LMS where student profile from PostgreSQL conditions both RAG retrieval and system prompt — the model cannot give direct answers.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274320" y="2240280"/>
            <a:ext cx="859536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74320" y="2240280"/>
            <a:ext cx="1920240" cy="3474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84048" y="2240280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been modified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11480" y="2624328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RAG pipeline — extended to condition retrieval on BOTH the query and the student's weak topics (W), errors (E), and level (ℓ). Formula: a = LLM( π(s), r(q, s, K), q )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274320" y="3566160"/>
            <a:ext cx="859536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74320" y="3566160"/>
            <a:ext cx="1920240" cy="34747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84048" y="3566160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been suggested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11480" y="3950208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Score rubric (0–3) as evaluation method: 0 = direct answer (FAIL) · 1 = partial hint · 2 = guiding question (PASS) · 3 = question + personalised test (EXCELLENT). Adapted from Mucciaccia et al. COLING 2025.</a:t>
            </a:r>
            <a:endParaRPr lang="en-US" sz="13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36576"/>
            <a:ext cx="123444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Technologies?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11480" y="731520"/>
            <a:ext cx="914400" cy="457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60120"/>
            <a:ext cx="64008" cy="65836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960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1234440"/>
            <a:ext cx="4983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codebase → Android + iOS. Riverpod gives type-safe state with code generation.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715000" y="1005840"/>
            <a:ext cx="3063240" cy="594360"/>
          </a:xfrm>
          <a:prstGeom prst="roundRect">
            <a:avLst>
              <a:gd name="adj" fmla="val 7692"/>
            </a:avLst>
          </a:prstGeom>
          <a:solidFill>
            <a:srgbClr val="FFF8E1"/>
          </a:solidFill>
          <a:ln w="12700">
            <a:solidFill>
              <a:srgbClr val="FFE0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06440" y="100584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9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React Native: worse for complex animations, bridge overhead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1746504"/>
            <a:ext cx="64008" cy="65836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7465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 + Java 21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" y="2020824"/>
            <a:ext cx="4983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over RBAC, rate limiting, business logic. Production-grade reliability.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15000" y="1792224"/>
            <a:ext cx="3063240" cy="594360"/>
          </a:xfrm>
          <a:prstGeom prst="roundRect">
            <a:avLst>
              <a:gd name="adj" fmla="val 7692"/>
            </a:avLst>
          </a:prstGeom>
          <a:solidFill>
            <a:srgbClr val="FFF8E1"/>
          </a:solidFill>
          <a:ln w="12700">
            <a:solidFill>
              <a:srgbClr val="FFE0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06440" y="1792224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9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Firebase alone: no complex JOINs for student analytics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532888"/>
            <a:ext cx="64008" cy="65836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5328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2807208"/>
            <a:ext cx="4983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schema for student progress. JSONB for AI logs. Complex queries for reports.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715000" y="2578608"/>
            <a:ext cx="3063240" cy="594360"/>
          </a:xfrm>
          <a:prstGeom prst="roundRect">
            <a:avLst>
              <a:gd name="adj" fmla="val 7692"/>
            </a:avLst>
          </a:prstGeom>
          <a:solidFill>
            <a:srgbClr val="FFF8E1"/>
          </a:solidFill>
          <a:ln w="12700">
            <a:solidFill>
              <a:srgbClr val="FFE0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06440" y="2578608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9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Firestore: cannot JOIN student + progress + courses tables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3319272"/>
            <a:ext cx="64008" cy="65836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3192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+ TUS Protocol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6928" y="3593592"/>
            <a:ext cx="4983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Resumable upload for video files over 100 MB. S3-compatible, self-hosted.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715000" y="3364992"/>
            <a:ext cx="3063240" cy="594360"/>
          </a:xfrm>
          <a:prstGeom prst="roundRect">
            <a:avLst>
              <a:gd name="adj" fmla="val 7692"/>
            </a:avLst>
          </a:prstGeom>
          <a:solidFill>
            <a:srgbClr val="FFF8E1"/>
          </a:solidFill>
          <a:ln w="12700">
            <a:solidFill>
              <a:srgbClr val="FFE0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06440" y="3364992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9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Firebase Storage: no native resumable upload on mobile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1480" y="4105656"/>
            <a:ext cx="64008" cy="65836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41056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/ GPT-4o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6928" y="4379976"/>
            <a:ext cx="4983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instruction-following for system prompt constraints. Easy to swap models.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715000" y="4151376"/>
            <a:ext cx="3063240" cy="594360"/>
          </a:xfrm>
          <a:prstGeom prst="roundRect">
            <a:avLst>
              <a:gd name="adj" fmla="val 7692"/>
            </a:avLst>
          </a:prstGeom>
          <a:solidFill>
            <a:srgbClr val="FFF8E1"/>
          </a:solidFill>
          <a:ln w="12700">
            <a:solidFill>
              <a:srgbClr val="FFE0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06440" y="4151376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955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Local Llama: lower response quality, no reliability guarantee</a:t>
            </a:r>
            <a:endParaRPr lang="en-US" sz="950" dirty="0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36576"/>
            <a:ext cx="123444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810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1417320" cy="6858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4983480"/>
            <a:ext cx="9144000" cy="73152"/>
          </a:xfrm>
          <a:prstGeom prst="rect">
            <a:avLst/>
          </a:prstGeom>
          <a:solidFill>
            <a:srgbClr val="8B1A2E"/>
          </a:solidFill>
          <a:ln w="12700">
            <a:solidFill>
              <a:srgbClr val="8B1A2E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1737360" y="128016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 err="1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SmartLearn</a:t>
            </a:r>
            <a:r>
              <a:rPr lang="en-US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From Zero to Running System</a:t>
            </a:r>
            <a:endParaRPr lang="en-US" dirty="0"/>
          </a:p>
        </p:txBody>
      </p:sp>
      <p:sp>
        <p:nvSpPr>
          <p:cNvPr id="6" name="Shape 2"/>
          <p:cNvSpPr/>
          <p:nvPr/>
        </p:nvSpPr>
        <p:spPr>
          <a:xfrm>
            <a:off x="1737360" y="731520"/>
            <a:ext cx="62179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274320" y="868680"/>
            <a:ext cx="8595360" cy="59436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74320" y="86868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 + App + Admin: done </a:t>
            </a:r>
            <a:br>
              <a:rPr lang="en-US" sz="14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sz="14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AI Coach: in progress  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9" name="Shape 5"/>
          <p:cNvSpPr/>
          <p:nvPr/>
        </p:nvSpPr>
        <p:spPr>
          <a:xfrm>
            <a:off x="274320" y="1600200"/>
            <a:ext cx="1828800" cy="64008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74320" y="1600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2240280" y="16916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Spring Boot 4 + Java 21  ·  40+ REST API endpoints  ·  JWT authentication  ·  RBAC (3 roles: Admin, Teacher, Student)  ·  PostgreSQL database with real test data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274320" y="2404872"/>
            <a:ext cx="1828800" cy="64008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74320" y="240487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 PANEL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240280" y="2496312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5 complete sections: Users · Courses · Online Courses · Groups · Session generation  ·  Full CRUD operations  ·  All roles visible and working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274320" y="3209544"/>
            <a:ext cx="1828800" cy="64008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74320" y="320954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APP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2240280" y="3300984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Flutter 3.38  ·  5-tab navigation: Home, Courses, Schedule, AI Tutor, Profile  ·  3 languages: English / Русский / O'zbek  ·  Profile editing (PATCH /api/v1/auth/me)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274320" y="4014216"/>
            <a:ext cx="1828800" cy="64008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74320" y="4014216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COACH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2240280" y="4105656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Architecture designed  ·  Socratic system prompt defined  ·  RAG pipeline planned  ·  Claude API integration is the next step</a:t>
            </a:r>
            <a:endParaRPr lang="en-US" sz="13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0" y="13716"/>
            <a:ext cx="123444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0" y="4983480"/>
            <a:ext cx="9144000" cy="73152"/>
          </a:xfrm>
          <a:prstGeom prst="rect">
            <a:avLst/>
          </a:prstGeom>
          <a:solidFill>
            <a:srgbClr val="8B1A2E"/>
          </a:solidFill>
          <a:ln w="12700">
            <a:solidFill>
              <a:srgbClr val="8B1A2E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1737360" y="128016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Chatbot — a Tutor. </a:t>
            </a:r>
            <a:br>
              <a:rPr lang="ru-RU" sz="20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20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Is in the Cod</a:t>
            </a:r>
            <a:r>
              <a:rPr lang="ru-RU" sz="2000" dirty="0" err="1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r>
              <a:rPr lang="en-US" sz="20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</p:txBody>
      </p:sp>
      <p:sp>
        <p:nvSpPr>
          <p:cNvPr id="6" name="Shape 2"/>
          <p:cNvSpPr/>
          <p:nvPr/>
        </p:nvSpPr>
        <p:spPr>
          <a:xfrm>
            <a:off x="1737360" y="731520"/>
            <a:ext cx="62179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274320" y="868680"/>
            <a:ext cx="8595360" cy="59436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pPr algn="ctr"/>
            <a:r>
              <a:rPr lang="en" dirty="0">
                <a:solidFill>
                  <a:schemeClr val="bg1">
                    <a:lumMod val="95000"/>
                  </a:schemeClr>
                </a:solidFill>
              </a:rPr>
              <a:t>The Socratic constraint — one rule, built from scratch</a:t>
            </a:r>
            <a:endParaRPr lang="ru-UZ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" name="Text 4"/>
          <p:cNvSpPr/>
          <p:nvPr/>
        </p:nvSpPr>
        <p:spPr>
          <a:xfrm>
            <a:off x="274320" y="86868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274320" y="1600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2240280" y="16916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74320" y="240487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240280" y="2496312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74320" y="320954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2240280" y="3300984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274320" y="4014216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2240280" y="4105656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2" name="Rectangle 21"/>
          <p:cNvSpPr/>
          <p:nvPr/>
        </p:nvSpPr>
        <p:spPr>
          <a:xfrm>
            <a:off x="2240278" y="1476423"/>
            <a:ext cx="6583682" cy="2935557"/>
          </a:xfrm>
          <a:prstGeom prst="rect">
            <a:avLst/>
          </a:prstGeom>
          <a:solidFill>
            <a:srgbClr val="1E1E2E"/>
          </a:solidFill>
          <a:ln>
            <a:solidFill>
              <a:srgbClr val="1E1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240279" y="1463040"/>
            <a:ext cx="6766561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dirty="0">
                <a:solidFill>
                  <a:srgbClr val="6A9955"/>
                </a:solidFill>
                <a:latin typeface="Courier New"/>
              </a:rPr>
              <a:t>// </a:t>
            </a:r>
            <a:r>
              <a:rPr sz="1050" dirty="0" err="1">
                <a:solidFill>
                  <a:srgbClr val="6A9955"/>
                </a:solidFill>
                <a:latin typeface="Courier New"/>
              </a:rPr>
              <a:t>SmartLearn</a:t>
            </a:r>
            <a:r>
              <a:rPr sz="1050" dirty="0">
                <a:solidFill>
                  <a:srgbClr val="6A9955"/>
                </a:solidFill>
                <a:latin typeface="Courier New"/>
              </a:rPr>
              <a:t> — AI Coach: Socratic Engine</a:t>
            </a:r>
          </a:p>
          <a:p>
            <a:pPr algn="l"/>
            <a:endParaRPr sz="1050" dirty="0">
              <a:solidFill>
                <a:srgbClr val="6A9955"/>
              </a:solidFill>
              <a:latin typeface="Courier New"/>
            </a:endParaRPr>
          </a:p>
          <a:p>
            <a:pPr algn="l"/>
            <a:r>
              <a:rPr sz="1050" dirty="0">
                <a:solidFill>
                  <a:srgbClr val="569CD6"/>
                </a:solidFill>
                <a:latin typeface="Courier New"/>
              </a:rPr>
              <a:t>private String </a:t>
            </a:r>
            <a:r>
              <a:rPr sz="1050" dirty="0" err="1">
                <a:solidFill>
                  <a:srgbClr val="569CD6"/>
                </a:solidFill>
                <a:latin typeface="Courier New"/>
              </a:rPr>
              <a:t>buildSystemPrompt</a:t>
            </a:r>
            <a:r>
              <a:rPr sz="1050" dirty="0">
                <a:solidFill>
                  <a:srgbClr val="569CD6"/>
                </a:solidFill>
                <a:latin typeface="Courier New"/>
              </a:rPr>
              <a:t>(</a:t>
            </a:r>
            <a:r>
              <a:rPr sz="1050" dirty="0" err="1">
                <a:solidFill>
                  <a:srgbClr val="569CD6"/>
                </a:solidFill>
                <a:latin typeface="Courier New"/>
              </a:rPr>
              <a:t>StudentProfile</a:t>
            </a:r>
            <a:r>
              <a:rPr sz="1050" dirty="0">
                <a:solidFill>
                  <a:srgbClr val="569CD6"/>
                </a:solidFill>
                <a:latin typeface="Courier New"/>
              </a:rPr>
              <a:t> student) {</a:t>
            </a:r>
          </a:p>
          <a:p>
            <a:pPr algn="l"/>
            <a:r>
              <a:rPr sz="1050" dirty="0">
                <a:solidFill>
                  <a:srgbClr val="CE9178"/>
                </a:solidFill>
                <a:latin typeface="Courier New"/>
              </a:rPr>
              <a:t>    return """</a:t>
            </a:r>
          </a:p>
          <a:p>
            <a:pPr algn="l"/>
            <a:r>
              <a:rPr sz="1050" dirty="0">
                <a:solidFill>
                  <a:srgbClr val="CE9178"/>
                </a:solidFill>
                <a:latin typeface="Courier New"/>
              </a:rPr>
              <a:t>        You are a Socratic tutor for </a:t>
            </a:r>
            <a:r>
              <a:rPr sz="1050" dirty="0" err="1">
                <a:solidFill>
                  <a:srgbClr val="CE9178"/>
                </a:solidFill>
                <a:latin typeface="Courier New"/>
              </a:rPr>
              <a:t>SmartLearn</a:t>
            </a:r>
            <a:r>
              <a:rPr sz="1050" dirty="0">
                <a:solidFill>
                  <a:srgbClr val="CE9178"/>
                </a:solidFill>
                <a:latin typeface="Courier New"/>
              </a:rPr>
              <a:t>.</a:t>
            </a:r>
          </a:p>
          <a:p>
            <a:pPr algn="l"/>
            <a:r>
              <a:rPr sz="1050" dirty="0">
                <a:solidFill>
                  <a:srgbClr val="CE9178"/>
                </a:solidFill>
                <a:latin typeface="Courier New"/>
              </a:rPr>
              <a:t>        NEVER give a direct answer. ALWAYS respond with a guiding question.</a:t>
            </a:r>
          </a:p>
          <a:p>
            <a:pPr algn="l"/>
            <a:endParaRPr sz="1050" dirty="0">
              <a:solidFill>
                <a:srgbClr val="CE9178"/>
              </a:solidFill>
              <a:latin typeface="Courier New"/>
            </a:endParaRPr>
          </a:p>
          <a:p>
            <a:pPr algn="l"/>
            <a:r>
              <a:rPr sz="1050" dirty="0">
                <a:solidFill>
                  <a:srgbClr val="CE9178"/>
                </a:solidFill>
                <a:latin typeface="Courier New"/>
              </a:rPr>
              <a:t>        Student level   : %s</a:t>
            </a:r>
          </a:p>
          <a:p>
            <a:pPr algn="l"/>
            <a:r>
              <a:rPr sz="1050" dirty="0">
                <a:solidFill>
                  <a:srgbClr val="CE9178"/>
                </a:solidFill>
                <a:latin typeface="Courier New"/>
              </a:rPr>
              <a:t>        Weak topics     : %s</a:t>
            </a:r>
          </a:p>
          <a:p>
            <a:pPr algn="l"/>
            <a:r>
              <a:rPr sz="1050" dirty="0">
                <a:solidFill>
                  <a:srgbClr val="CE9178"/>
                </a:solidFill>
                <a:latin typeface="Courier New"/>
              </a:rPr>
              <a:t>        Recent mistakes : %s</a:t>
            </a:r>
          </a:p>
          <a:p>
            <a:pPr algn="l"/>
            <a:endParaRPr sz="1050" dirty="0">
              <a:solidFill>
                <a:srgbClr val="CE9178"/>
              </a:solidFill>
              <a:latin typeface="Courier New"/>
            </a:endParaRPr>
          </a:p>
          <a:p>
            <a:pPr algn="l"/>
            <a:r>
              <a:rPr sz="1050" dirty="0">
                <a:solidFill>
                  <a:srgbClr val="CE9178"/>
                </a:solidFill>
                <a:latin typeface="Courier New"/>
              </a:rPr>
              <a:t>        Rule 1 — ask one question that leads the student closer to the answer.</a:t>
            </a:r>
          </a:p>
          <a:p>
            <a:pPr algn="l"/>
            <a:r>
              <a:rPr sz="1050" dirty="0">
                <a:solidFill>
                  <a:srgbClr val="CE9178"/>
                </a:solidFill>
                <a:latin typeface="Courier New"/>
              </a:rPr>
              <a:t>        Rule 2 — if stuck, give a small hint — still as a question.</a:t>
            </a:r>
          </a:p>
          <a:p>
            <a:pPr algn="l"/>
            <a:r>
              <a:rPr sz="1050" dirty="0">
                <a:solidFill>
                  <a:srgbClr val="CE9178"/>
                </a:solidFill>
                <a:latin typeface="Courier New"/>
              </a:rPr>
              <a:t>        Rule 3 — celebrate correct reasoning, not just the correct answer.</a:t>
            </a:r>
          </a:p>
          <a:p>
            <a:pPr algn="l"/>
            <a:r>
              <a:rPr sz="1050" dirty="0">
                <a:solidFill>
                  <a:srgbClr val="D4D4D4"/>
                </a:solidFill>
                <a:latin typeface="Courier New"/>
              </a:rPr>
              <a:t>    """.formatted(</a:t>
            </a:r>
          </a:p>
          <a:p>
            <a:pPr algn="l"/>
            <a:r>
              <a:rPr sz="1050" dirty="0">
                <a:solidFill>
                  <a:srgbClr val="9CDCFE"/>
                </a:solidFill>
                <a:latin typeface="Courier New"/>
              </a:rPr>
              <a:t>        </a:t>
            </a:r>
            <a:r>
              <a:rPr sz="1050" dirty="0" err="1">
                <a:solidFill>
                  <a:srgbClr val="9CDCFE"/>
                </a:solidFill>
                <a:latin typeface="Courier New"/>
              </a:rPr>
              <a:t>student.getLevel</a:t>
            </a:r>
            <a:r>
              <a:rPr sz="1050" dirty="0">
                <a:solidFill>
                  <a:srgbClr val="9CDCFE"/>
                </a:solidFill>
                <a:latin typeface="Courier New"/>
              </a:rPr>
              <a:t>(), </a:t>
            </a:r>
            <a:r>
              <a:rPr sz="1050" dirty="0" err="1">
                <a:solidFill>
                  <a:srgbClr val="9CDCFE"/>
                </a:solidFill>
                <a:latin typeface="Courier New"/>
              </a:rPr>
              <a:t>student.getWeakTopics</a:t>
            </a:r>
            <a:r>
              <a:rPr sz="1050" dirty="0">
                <a:solidFill>
                  <a:srgbClr val="9CDCFE"/>
                </a:solidFill>
                <a:latin typeface="Courier New"/>
              </a:rPr>
              <a:t>(), </a:t>
            </a:r>
            <a:r>
              <a:rPr sz="1050" dirty="0" err="1">
                <a:solidFill>
                  <a:srgbClr val="9CDCFE"/>
                </a:solidFill>
                <a:latin typeface="Courier New"/>
              </a:rPr>
              <a:t>student.getRecentErrors</a:t>
            </a:r>
            <a:r>
              <a:rPr sz="1050" dirty="0">
                <a:solidFill>
                  <a:srgbClr val="9CDCFE"/>
                </a:solidFill>
                <a:latin typeface="Courier New"/>
              </a:rPr>
              <a:t>()</a:t>
            </a:r>
          </a:p>
          <a:p>
            <a:pPr algn="l"/>
            <a:r>
              <a:rPr sz="1050" dirty="0">
                <a:solidFill>
                  <a:srgbClr val="D4D4D4"/>
                </a:solidFill>
                <a:latin typeface="Courier New"/>
              </a:rPr>
              <a:t>    );</a:t>
            </a:r>
          </a:p>
          <a:p>
            <a:pPr algn="l"/>
            <a:r>
              <a:rPr sz="1050" dirty="0">
                <a:solidFill>
                  <a:srgbClr val="569CD6"/>
                </a:solidFill>
                <a:latin typeface="Courier New"/>
              </a:rPr>
              <a:t>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6693" y="4429099"/>
            <a:ext cx="79374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 dirty="0">
                <a:highlight>
                  <a:srgbClr val="C0C0C0"/>
                </a:highlight>
              </a:rPr>
              <a:t>"I rewrote this function 3 times. </a:t>
            </a:r>
            <a:br>
              <a:rPr lang="en-US" sz="1200" i="1" dirty="0">
                <a:highlight>
                  <a:srgbClr val="C0C0C0"/>
                </a:highlight>
              </a:rPr>
            </a:br>
            <a:r>
              <a:rPr sz="1200" i="1" dirty="0">
                <a:highlight>
                  <a:srgbClr val="C0C0C0"/>
                </a:highlight>
              </a:rPr>
              <a:t>The single rule — never give a direct answer — is what separates </a:t>
            </a:r>
            <a:r>
              <a:rPr sz="1200" i="1" dirty="0" err="1">
                <a:highlight>
                  <a:srgbClr val="C0C0C0"/>
                </a:highlight>
              </a:rPr>
              <a:t>SmartLearn</a:t>
            </a:r>
            <a:r>
              <a:rPr sz="1200" i="1" dirty="0">
                <a:highlight>
                  <a:srgbClr val="C0C0C0"/>
                </a:highlight>
              </a:rPr>
              <a:t> from every other LMS."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6A31CB6-25CA-654B-B6D5-E54A9CC2B627}"/>
              </a:ext>
            </a:extLst>
          </p:cNvPr>
          <p:cNvSpPr txBox="1"/>
          <p:nvPr/>
        </p:nvSpPr>
        <p:spPr>
          <a:xfrm>
            <a:off x="49621" y="1809921"/>
            <a:ext cx="224027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" sz="1200" dirty="0"/>
              <a:t> </a:t>
            </a:r>
            <a:r>
              <a:rPr lang="en" sz="1200" dirty="0"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Takes student profile (level, weak topics, recent mistakes)</a:t>
            </a:r>
            <a:br>
              <a:rPr lang="ru-RU" sz="1200" dirty="0"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</a:br>
            <a:endParaRPr lang="en" sz="1200" dirty="0">
              <a:latin typeface="Apple Symbols" panose="02000000000000000000" pitchFamily="2" charset="-79"/>
              <a:ea typeface="Apple Symbols" panose="02000000000000000000" pitchFamily="2" charset="-79"/>
              <a:cs typeface="Apple Symbols" panose="02000000000000000000" pitchFamily="2" charset="-79"/>
            </a:endParaRPr>
          </a:p>
          <a:p>
            <a:pPr marL="228600" indent="-228600">
              <a:buFont typeface="+mj-lt"/>
              <a:buAutoNum type="arabicPeriod"/>
            </a:pPr>
            <a:r>
              <a:rPr lang="en" sz="1200" dirty="0"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 Builds a custom system prompt before every AI session</a:t>
            </a:r>
            <a:br>
              <a:rPr lang="ru-RU" sz="1200" dirty="0"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</a:br>
            <a:endParaRPr lang="en" sz="1200" dirty="0">
              <a:latin typeface="Apple Symbols" panose="02000000000000000000" pitchFamily="2" charset="-79"/>
              <a:ea typeface="Apple Symbols" panose="02000000000000000000" pitchFamily="2" charset="-79"/>
              <a:cs typeface="Apple Symbols" panose="02000000000000000000" pitchFamily="2" charset="-79"/>
            </a:endParaRPr>
          </a:p>
          <a:p>
            <a:pPr marL="228600" indent="-228600">
              <a:buFont typeface="+mj-lt"/>
              <a:buAutoNum type="arabicPeriod"/>
            </a:pPr>
            <a:r>
              <a:rPr lang="en" sz="1200" dirty="0"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One hard rule: never give a direct answer — always ask back</a:t>
            </a:r>
            <a:br>
              <a:rPr lang="ru-RU" sz="1200" dirty="0"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</a:br>
            <a:endParaRPr lang="en" sz="1200" dirty="0">
              <a:latin typeface="Apple Symbols" panose="02000000000000000000" pitchFamily="2" charset="-79"/>
              <a:ea typeface="Apple Symbols" panose="02000000000000000000" pitchFamily="2" charset="-79"/>
              <a:cs typeface="Apple Symbols" panose="02000000000000000000" pitchFamily="2" charset="-79"/>
            </a:endParaRPr>
          </a:p>
          <a:p>
            <a:pPr marL="228600" indent="-228600">
              <a:buFont typeface="+mj-lt"/>
              <a:buAutoNum type="arabicPeriod"/>
            </a:pPr>
            <a:r>
              <a:rPr lang="en" sz="1200" dirty="0"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That single constraint is what makes it a tutor, not a chatbot</a:t>
            </a:r>
            <a:br>
              <a:rPr lang="ru-RU" sz="1200" dirty="0"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</a:br>
            <a:endParaRPr lang="en" sz="1200" dirty="0">
              <a:latin typeface="Apple Symbols" panose="02000000000000000000" pitchFamily="2" charset="-79"/>
              <a:ea typeface="Apple Symbols" panose="02000000000000000000" pitchFamily="2" charset="-79"/>
              <a:cs typeface="Apple Symbols" panose="02000000000000000000" pitchFamily="2" charset="-79"/>
            </a:endParaRPr>
          </a:p>
          <a:p>
            <a:pPr marL="228600" indent="-228600">
              <a:buFont typeface="+mj-lt"/>
              <a:buAutoNum type="arabicPeriod"/>
            </a:pPr>
            <a:r>
              <a:rPr lang="en" sz="1200" dirty="0">
                <a:latin typeface="Apple Symbols" panose="02000000000000000000" pitchFamily="2" charset="-79"/>
                <a:ea typeface="Apple Symbols" panose="02000000000000000000" pitchFamily="2" charset="-79"/>
                <a:cs typeface="Apple Symbols" panose="02000000000000000000" pitchFamily="2" charset="-79"/>
              </a:rPr>
              <a:t>Rewrote this function 3 times to get the logic right</a:t>
            </a:r>
            <a:endParaRPr lang="ru-UZ" sz="1200" dirty="0">
              <a:ea typeface="Apple Symbols" panose="02000000000000000000" pitchFamily="2" charset="-79"/>
              <a:cs typeface="Apple Symbols" panose="02000000000000000000" pitchFamily="2" charset="-79"/>
            </a:endParaRPr>
          </a:p>
        </p:txBody>
      </p:sp>
      <p:pic>
        <p:nvPicPr>
          <p:cNvPr id="27" name="Image 1" descr="preencoded.png">
            <a:extLst>
              <a:ext uri="{FF2B5EF4-FFF2-40B4-BE49-F238E27FC236}">
                <a16:creationId xmlns:a16="http://schemas.microsoft.com/office/drawing/2014/main" id="{BC6D5E62-50A6-8F4A-98CC-8673F80F38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13716"/>
            <a:ext cx="1234440" cy="685800"/>
          </a:xfrm>
          <a:prstGeom prst="rect">
            <a:avLst/>
          </a:prstGeom>
        </p:spPr>
      </p:pic>
      <p:pic>
        <p:nvPicPr>
          <p:cNvPr id="28" name="Image 0" descr="preencoded.png">
            <a:extLst>
              <a:ext uri="{FF2B5EF4-FFF2-40B4-BE49-F238E27FC236}">
                <a16:creationId xmlns:a16="http://schemas.microsoft.com/office/drawing/2014/main" id="{5403A9AD-BA60-0340-A01A-9F10E9DEDB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141732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0" y="4983480"/>
            <a:ext cx="9144000" cy="73152"/>
          </a:xfrm>
          <a:prstGeom prst="rect">
            <a:avLst/>
          </a:prstGeom>
          <a:solidFill>
            <a:srgbClr val="8B1A2E"/>
          </a:solidFill>
          <a:ln w="12700">
            <a:solidFill>
              <a:srgbClr val="8B1A2E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1737360" y="128016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SmartLearn</a:t>
            </a:r>
            <a:r>
              <a:rPr lang="en-US" sz="20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Asks. The Student Thinks. That's the Point.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274320" y="868680"/>
            <a:ext cx="8595360" cy="59436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74320" y="86868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9" name="Shape 5"/>
          <p:cNvSpPr/>
          <p:nvPr/>
        </p:nvSpPr>
        <p:spPr>
          <a:xfrm>
            <a:off x="274320" y="1600200"/>
            <a:ext cx="1828800" cy="64008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74320" y="1600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2240280" y="16916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274320" y="2404872"/>
            <a:ext cx="1828800" cy="64008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74320" y="240487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892509" y="2907792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/>
              <a:t>· Student asks about Java polymorphism</a:t>
            </a:r>
          </a:p>
          <a:p>
            <a:pPr marL="0" indent="0">
              <a:buNone/>
            </a:pPr>
            <a:r>
              <a:rPr lang="en-US" sz="1300" dirty="0"/>
              <a:t>    → AI does not explain — it asks back</a:t>
            </a:r>
          </a:p>
          <a:p>
            <a:pPr marL="0" indent="0">
              <a:buNone/>
            </a:pPr>
            <a:r>
              <a:rPr lang="en-US" sz="1300" dirty="0"/>
              <a:t>    </a:t>
            </a:r>
          </a:p>
          <a:p>
            <a:pPr marL="0" indent="0">
              <a:buNone/>
            </a:pPr>
            <a:r>
              <a:rPr lang="en-US" sz="1300" dirty="0"/>
              <a:t>  · "What does 'polymorphism' mean in Greek?"</a:t>
            </a:r>
          </a:p>
          <a:p>
            <a:pPr marL="0" indent="0">
              <a:buNone/>
            </a:pPr>
            <a:r>
              <a:rPr lang="en-US" sz="1300" dirty="0"/>
              <a:t>    — that one question leads to the answer</a:t>
            </a:r>
          </a:p>
          <a:p>
            <a:pPr marL="0" indent="0">
              <a:buNone/>
            </a:pPr>
            <a:r>
              <a:rPr lang="en-US" sz="1300" dirty="0"/>
              <a:t>    </a:t>
            </a:r>
          </a:p>
          <a:p>
            <a:pPr marL="0" indent="0">
              <a:buNone/>
            </a:pPr>
            <a:r>
              <a:rPr lang="en-US" sz="1300" dirty="0"/>
              <a:t>  · The AI knows the student's level and weak topics</a:t>
            </a:r>
          </a:p>
          <a:p>
            <a:pPr marL="0" indent="0">
              <a:buNone/>
            </a:pPr>
            <a:r>
              <a:rPr lang="en-US" sz="1300" dirty="0"/>
              <a:t>    — every response is </a:t>
            </a:r>
            <a:r>
              <a:rPr lang="en-US" sz="1300" dirty="0" err="1"/>
              <a:t>personalised</a:t>
            </a:r>
            <a:r>
              <a:rPr lang="en-US" sz="1300" dirty="0"/>
              <a:t>, not generic</a:t>
            </a:r>
          </a:p>
          <a:p>
            <a:pPr marL="0" indent="0">
              <a:buNone/>
            </a:pPr>
            <a:r>
              <a:rPr lang="en-US" sz="1300" dirty="0"/>
              <a:t>    </a:t>
            </a:r>
          </a:p>
          <a:p>
            <a:pPr marL="0" indent="0">
              <a:buNone/>
            </a:pPr>
            <a:r>
              <a:rPr lang="en-US" sz="1300" dirty="0"/>
              <a:t>  · Built in Flutter · Spring Boot · Claude API</a:t>
            </a:r>
          </a:p>
          <a:p>
            <a:pPr marL="0" indent="0">
              <a:buNone/>
            </a:pPr>
            <a:r>
              <a:rPr lang="en-US" sz="1300" dirty="0"/>
              <a:t>    — one question away from full integration</a:t>
            </a:r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ru-RU" sz="1300" dirty="0"/>
              <a:t>"</a:t>
            </a:r>
            <a:r>
              <a:rPr lang="en-US" sz="1300" dirty="0"/>
              <a:t>The AI answered a question with a question.</a:t>
            </a:r>
          </a:p>
          <a:p>
            <a:pPr marL="0" indent="0">
              <a:buNone/>
            </a:pPr>
            <a:r>
              <a:rPr lang="en-US" sz="1300" dirty="0"/>
              <a:t>   That's not a bug — that's the whole idea."</a:t>
            </a:r>
          </a:p>
        </p:txBody>
      </p:sp>
      <p:sp>
        <p:nvSpPr>
          <p:cNvPr id="15" name="Shape 11"/>
          <p:cNvSpPr/>
          <p:nvPr/>
        </p:nvSpPr>
        <p:spPr>
          <a:xfrm>
            <a:off x="274320" y="3209544"/>
            <a:ext cx="1828800" cy="64008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74320" y="320954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2240280" y="3300984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274320" y="4014216"/>
            <a:ext cx="1828800" cy="64008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74320" y="4014216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2426134" y="3826764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B5C1CCE-ED8D-E943-B300-A70520766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09344"/>
            <a:ext cx="1828800" cy="3286357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F1EC057-147B-A54F-909D-3C4F0B057AAE}"/>
              </a:ext>
            </a:extLst>
          </p:cNvPr>
          <p:cNvSpPr txBox="1"/>
          <p:nvPr/>
        </p:nvSpPr>
        <p:spPr>
          <a:xfrm>
            <a:off x="1960209" y="878639"/>
            <a:ext cx="5772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dirty="0">
                <a:solidFill>
                  <a:schemeClr val="bg1">
                    <a:lumMod val="95000"/>
                  </a:schemeClr>
                </a:solidFill>
              </a:rPr>
              <a:t>"Live Socratic session: the AI guides, the student discovers."</a:t>
            </a:r>
            <a:endParaRPr lang="ru-UZ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FE56B1F-C9A5-4A49-83C4-BAFC5653E456}"/>
              </a:ext>
            </a:extLst>
          </p:cNvPr>
          <p:cNvSpPr txBox="1"/>
          <p:nvPr/>
        </p:nvSpPr>
        <p:spPr>
          <a:xfrm>
            <a:off x="5449824" y="201168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UZ" dirty="0"/>
          </a:p>
        </p:txBody>
      </p:sp>
      <p:pic>
        <p:nvPicPr>
          <p:cNvPr id="34" name="Image 1" descr="preencoded.png">
            <a:extLst>
              <a:ext uri="{FF2B5EF4-FFF2-40B4-BE49-F238E27FC236}">
                <a16:creationId xmlns:a16="http://schemas.microsoft.com/office/drawing/2014/main" id="{767A814C-8C3C-DB42-B54E-5A24C7AAF2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13716"/>
            <a:ext cx="1234440" cy="685800"/>
          </a:xfrm>
          <a:prstGeom prst="rect">
            <a:avLst/>
          </a:prstGeom>
        </p:spPr>
      </p:pic>
      <p:pic>
        <p:nvPicPr>
          <p:cNvPr id="35" name="Image 0" descr="preencoded.png">
            <a:extLst>
              <a:ext uri="{FF2B5EF4-FFF2-40B4-BE49-F238E27FC236}">
                <a16:creationId xmlns:a16="http://schemas.microsoft.com/office/drawing/2014/main" id="{0A7DA214-02CE-3748-92F2-786D5CDC56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" y="73152"/>
            <a:ext cx="141732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1417320" cy="6858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4983480"/>
            <a:ext cx="9144000" cy="73152"/>
          </a:xfrm>
          <a:prstGeom prst="rect">
            <a:avLst/>
          </a:prstGeom>
          <a:solidFill>
            <a:srgbClr val="8B1A2E"/>
          </a:solidFill>
          <a:ln w="12700">
            <a:solidFill>
              <a:srgbClr val="8B1A2E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1737360" y="128016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Socratic AI Coach Works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1737360" y="731520"/>
            <a:ext cx="62179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731520" y="914400"/>
            <a:ext cx="685800" cy="6858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31520" y="914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1426464" y="1261872"/>
            <a:ext cx="530352" cy="0"/>
          </a:xfrm>
          <a:prstGeom prst="line">
            <a:avLst/>
          </a:prstGeom>
          <a:noFill/>
          <a:ln w="12700">
            <a:solidFill>
              <a:srgbClr val="00BCD4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201168" y="1737360"/>
            <a:ext cx="16916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92608" y="181051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asks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92608" y="214884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'How does SQL injection work?'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496312" y="914400"/>
            <a:ext cx="685800" cy="685800"/>
          </a:xfrm>
          <a:prstGeom prst="ellipse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496312" y="914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3191256" y="1261872"/>
            <a:ext cx="530352" cy="0"/>
          </a:xfrm>
          <a:prstGeom prst="line">
            <a:avLst/>
          </a:prstGeom>
          <a:noFill/>
          <a:ln w="12700">
            <a:solidFill>
              <a:srgbClr val="00BCD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965960" y="1737360"/>
            <a:ext cx="16916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057400" y="181051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loaded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2057400" y="214884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+ weak topics + errors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PostgreSQL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261104" y="914400"/>
            <a:ext cx="685800" cy="68580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261104" y="914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4956048" y="1261872"/>
            <a:ext cx="530352" cy="0"/>
          </a:xfrm>
          <a:prstGeom prst="line">
            <a:avLst/>
          </a:prstGeom>
          <a:noFill/>
          <a:ln w="12700">
            <a:solidFill>
              <a:srgbClr val="00BCD4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730752" y="1737360"/>
            <a:ext cx="16916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822192" y="181051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retrieves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3822192" y="214884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course material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knowledge base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6025896" y="914400"/>
            <a:ext cx="685800" cy="68580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025896" y="914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Shape 23"/>
          <p:cNvSpPr/>
          <p:nvPr/>
        </p:nvSpPr>
        <p:spPr>
          <a:xfrm>
            <a:off x="6720840" y="1261872"/>
            <a:ext cx="530352" cy="0"/>
          </a:xfrm>
          <a:prstGeom prst="line">
            <a:avLst/>
          </a:prstGeom>
          <a:noFill/>
          <a:ln w="12700">
            <a:solidFill>
              <a:srgbClr val="00BCD4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495544" y="1737360"/>
            <a:ext cx="16916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586984" y="181051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generates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5586984" y="214884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— constrained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system prompt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7790688" y="914400"/>
            <a:ext cx="685800" cy="685800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7790688" y="914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3" name="Shape 29"/>
          <p:cNvSpPr/>
          <p:nvPr/>
        </p:nvSpPr>
        <p:spPr>
          <a:xfrm>
            <a:off x="7260336" y="1737360"/>
            <a:ext cx="16916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7351776" y="181051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question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7351776" y="2148840"/>
            <a:ext cx="1508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'What happens if user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is not sanitised?'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201168" y="3547872"/>
            <a:ext cx="8741664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347472" y="3566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00" dirty="0"/>
          </a:p>
        </p:txBody>
      </p:sp>
      <p:sp>
        <p:nvSpPr>
          <p:cNvPr id="38" name="Text 34"/>
          <p:cNvSpPr/>
          <p:nvPr/>
        </p:nvSpPr>
        <p:spPr>
          <a:xfrm>
            <a:off x="347472" y="3813048"/>
            <a:ext cx="8412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answer to this task?
</a:t>
            </a:r>
            <a:r>
              <a:rPr lang="en-US" sz="13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Coach: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Interesting. What do you think happens to user input before it reaches the database?</a:t>
            </a:r>
            <a:endParaRPr lang="en-US" sz="1300" dirty="0"/>
          </a:p>
        </p:txBody>
      </p:sp>
      <p:pic>
        <p:nvPicPr>
          <p:cNvPr id="3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36576"/>
            <a:ext cx="123444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1417320" cy="6858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4983480"/>
            <a:ext cx="9144000" cy="73152"/>
          </a:xfrm>
          <a:prstGeom prst="rect">
            <a:avLst/>
          </a:prstGeom>
          <a:solidFill>
            <a:srgbClr val="8B1A2E"/>
          </a:solidFill>
          <a:ln w="12700">
            <a:solidFill>
              <a:srgbClr val="8B1A2E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1737360" y="128016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Interactions and Data Flow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1737360" y="731520"/>
            <a:ext cx="62179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201168" y="896112"/>
            <a:ext cx="2788920" cy="384048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01168" y="89611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201168" y="1280160"/>
            <a:ext cx="278892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65760" y="1426464"/>
            <a:ext cx="109728" cy="109728"/>
          </a:xfrm>
          <a:prstGeom prst="ellipse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48640" y="137160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Creates/removes courses, users, domains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65760" y="1975104"/>
            <a:ext cx="109728" cy="109728"/>
          </a:xfrm>
          <a:prstGeom prst="ellipse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48640" y="192024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Configures system-wide settings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65760" y="2523744"/>
            <a:ext cx="109728" cy="109728"/>
          </a:xfrm>
          <a:prstGeom prst="ellipse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48640" y="246888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 changes needed — template-based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3172968" y="896112"/>
            <a:ext cx="2788920" cy="3840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172968" y="89611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3172968" y="1280160"/>
            <a:ext cx="278892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337560" y="1426464"/>
            <a:ext cx="109728" cy="109728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520440" y="137160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lessons and uploads materials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3337560" y="1975104"/>
            <a:ext cx="109728" cy="109728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520440" y="192024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student analytics per topic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3337560" y="2523744"/>
            <a:ext cx="109728" cy="109728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520440" y="246888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class performance reports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6144768" y="896112"/>
            <a:ext cx="2788920" cy="38404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144768" y="89611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500" dirty="0"/>
          </a:p>
        </p:txBody>
      </p:sp>
      <p:sp>
        <p:nvSpPr>
          <p:cNvPr id="27" name="Shape 23"/>
          <p:cNvSpPr/>
          <p:nvPr/>
        </p:nvSpPr>
        <p:spPr>
          <a:xfrm>
            <a:off x="6144768" y="1280160"/>
            <a:ext cx="278892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309360" y="1426464"/>
            <a:ext cx="109728" cy="109728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492240" y="137160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Enrolls in courses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6309360" y="1975104"/>
            <a:ext cx="109728" cy="109728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492240" y="192024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Chats with Socratic AI Coach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6309360" y="2523744"/>
            <a:ext cx="109728" cy="109728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6492240" y="246888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stored in student_progress DB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201168" y="3291840"/>
            <a:ext cx="8741664" cy="987552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347472" y="3310128"/>
            <a:ext cx="84124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data loop: 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chats with AI Coach → interaction stored in </a:t>
            </a:r>
            <a:r>
              <a:rPr lang="en-US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student_progress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(weak_topics[], recent_errors[]) → </a:t>
            </a: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reads analytics → </a:t>
            </a: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monitors platform. JWT + RBAC enforces access at API level.</a:t>
            </a:r>
            <a:endParaRPr lang="en-US" sz="1300" dirty="0"/>
          </a:p>
        </p:txBody>
      </p:sp>
      <p:pic>
        <p:nvPicPr>
          <p:cNvPr id="3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36576"/>
            <a:ext cx="123444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1417320" cy="6858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36576"/>
            <a:ext cx="685800" cy="6858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4983480"/>
            <a:ext cx="9144000" cy="73152"/>
          </a:xfrm>
          <a:prstGeom prst="rect">
            <a:avLst/>
          </a:prstGeom>
          <a:solidFill>
            <a:srgbClr val="8B1A2E"/>
          </a:solidFill>
          <a:ln w="12700">
            <a:solidFill>
              <a:srgbClr val="8B1A2E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1737360" y="128016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Implementation Status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1737360" y="731520"/>
            <a:ext cx="62179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201168" y="896112"/>
            <a:ext cx="2788920" cy="384048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92608" y="89611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Done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201168" y="1280160"/>
            <a:ext cx="2788920" cy="331012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38328" y="137160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Backend API — all endpoints working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38328" y="193852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Admin Panel — 5 sections complete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38328" y="2505456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Student App — 5 tabs, 3 languages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172968" y="896112"/>
            <a:ext cx="2788920" cy="3840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264408" y="89611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In Progress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3172968" y="1280160"/>
            <a:ext cx="2788920" cy="331012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310128" y="137160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AI Coach — system design ready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310128" y="193852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Claude API — integration started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310128" y="2505456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System prompt — Socratic rules set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3310128" y="3072384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RAG pipeline — architecture defined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3310128" y="3639312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144768" y="896112"/>
            <a:ext cx="2788920" cy="38404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236208" y="89611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Next Steps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6144768" y="1280160"/>
            <a:ext cx="2788920" cy="331012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281928" y="137160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Connect Claude API to backend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6281928" y="193852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Run Socratic Score evaluation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6281928" y="2505456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Collect student feedback data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201168" y="4663440"/>
            <a:ext cx="8741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70 % milestone — system is live and running · AI integration is the final phase</a:t>
            </a:r>
            <a:endParaRPr lang="en-US" sz="1000" dirty="0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36576"/>
            <a:ext cx="123444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1417320" cy="6858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4983480"/>
            <a:ext cx="9144000" cy="73152"/>
          </a:xfrm>
          <a:prstGeom prst="rect">
            <a:avLst/>
          </a:prstGeom>
          <a:solidFill>
            <a:srgbClr val="8B1A2E"/>
          </a:solidFill>
          <a:ln w="12700">
            <a:solidFill>
              <a:srgbClr val="8B1A2E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1737360" y="128016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Conclusion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1737360" y="731520"/>
            <a:ext cx="621792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274320" y="960120"/>
            <a:ext cx="438912" cy="43891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74320" y="960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04672" y="9784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— completed: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2761488" y="978408"/>
            <a:ext cx="6263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— 13 sources, gap analysis confirmed, Bloom's Taxonomy framework.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274320" y="1801368"/>
            <a:ext cx="438912" cy="43891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74320" y="18013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804672" y="181965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— completed: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761488" y="1819656"/>
            <a:ext cx="6263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implemented — Flutter mobile app + Spring Boot backend + PostgreSQL database. Admin, Teacher, and Student roles all working.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274320" y="2642616"/>
            <a:ext cx="438912" cy="43891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74320" y="26426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804672" y="266090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— in progress: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2761488" y="2660904"/>
            <a:ext cx="6263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Coach designed — Socratic constraints defined, RAG pipeline planned, system prompt ready. Claude API integration is the next and final step.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274320" y="3520440"/>
            <a:ext cx="8595360" cy="1143000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11480" y="354787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CONFIRMED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11480" y="3813048"/>
            <a:ext cx="8321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SmartLearn is the FIRST system to combine RAG + Socratic dialogue + personalised student profile in one working LMS. Confirmed by 13 peer-reviewed sources (2023–2025). Backend + App + Admin Panel are live. AI integration is next.</a:t>
            </a:r>
            <a:endParaRPr lang="en-US" sz="130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36576"/>
            <a:ext cx="123444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1417320" cy="6858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36576"/>
            <a:ext cx="1783080" cy="6858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4983480"/>
            <a:ext cx="9144000" cy="73152"/>
          </a:xfrm>
          <a:prstGeom prst="rect">
            <a:avLst/>
          </a:prstGeom>
          <a:solidFill>
            <a:srgbClr val="8B1A2E"/>
          </a:solidFill>
          <a:ln w="12700">
            <a:solidFill>
              <a:srgbClr val="8B1A2E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914400" y="164592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attention</a:t>
            </a:r>
            <a:endParaRPr lang="en-US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Shape 2"/>
          <p:cNvSpPr/>
          <p:nvPr/>
        </p:nvSpPr>
        <p:spPr>
          <a:xfrm>
            <a:off x="3200400" y="2542032"/>
            <a:ext cx="2743200" cy="0"/>
          </a:xfrm>
          <a:prstGeom prst="line">
            <a:avLst/>
          </a:prstGeom>
          <a:noFill/>
          <a:ln w="12700">
            <a:solidFill>
              <a:srgbClr val="8B1A2E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14400" y="278892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Kurbanov</a:t>
            </a: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Azimzhon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914400" y="3154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274320" y="37033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References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274320" y="400507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Dong et al. KG-RAG arXiv:2311.17696  ·  Spriggs et al. Adaptive LMS arXiv:2502.08655  ·  Lin et al. RAG-PRISM arXiv:2509.00646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274320" y="4306824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Cohn et al. LC-RAG arXiv:2505.17238  ·  Sunil &amp; Thakkar SocraticAI arXiv:2512.03501  ·  Favero et al. arXiv:2409.05511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274320" y="4608576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Ali et al. Canvas Quiz CEUR-WS Vol-4076  ·  Mucciaccia et al. MCQ COLING 2025  ·  Swacha &amp; Gracel MDPI Appl.Sci.15(8):4234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428</TotalTime>
  <Words>1653</Words>
  <Application>Microsoft Macintosh PowerPoint</Application>
  <PresentationFormat>Экран (16:9)</PresentationFormat>
  <Paragraphs>213</Paragraphs>
  <Slides>14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1" baseType="lpstr">
      <vt:lpstr>Apple Symbols</vt:lpstr>
      <vt:lpstr>Arial</vt:lpstr>
      <vt:lpstr>Calibri</vt:lpstr>
      <vt:lpstr>Century Gothic</vt:lpstr>
      <vt:lpstr>Consolas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aziimkrbnv@gmail.com</cp:lastModifiedBy>
  <cp:revision>5</cp:revision>
  <dcterms:created xsi:type="dcterms:W3CDTF">2026-04-23T06:35:02Z</dcterms:created>
  <dcterms:modified xsi:type="dcterms:W3CDTF">2026-06-08T04:35:31Z</dcterms:modified>
</cp:coreProperties>
</file>