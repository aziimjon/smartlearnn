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59" r:id="rId6"/>
    <p:sldId id="267" r:id="rId7"/>
    <p:sldId id="261" r:id="rId8"/>
    <p:sldId id="268" r:id="rId9"/>
    <p:sldId id="269" r:id="rId10"/>
    <p:sldId id="262" r:id="rId11"/>
    <p:sldId id="263" r:id="rId12"/>
    <p:sldId id="264" r:id="rId13"/>
    <p:sldId id="265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>
        <p:scale>
          <a:sx n="162" d="100"/>
          <a:sy n="162" d="100"/>
        </p:scale>
        <p:origin x="1256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704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6576"/>
            <a:ext cx="68580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691640" y="868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914400" y="1417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SmartLearn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914400" y="2148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 Management System</a:t>
            </a:r>
            <a:endParaRPr lang="en-US" dirty="0"/>
          </a:p>
          <a:p>
            <a:pPr algn="ctr"/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with Socratic Coaching Module</a:t>
            </a:r>
            <a:endParaRPr lang="en-US" dirty="0"/>
          </a:p>
          <a:p>
            <a:pPr algn="ctr"/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14400" y="2852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Thesis  ·  Riga Nordic University  ·  2025</a:t>
            </a:r>
            <a:b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3291840"/>
            <a:ext cx="1188720" cy="11887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43600" y="3401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Kurbanov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Azimjon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943600" y="3657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943600" y="3913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Bef>
                <a:spcPts val="300"/>
              </a:spcBef>
            </a:pPr>
            <a:r>
              <a:rPr lang="en" sz="1200" b="0" dirty="0">
                <a:solidFill>
                  <a:srgbClr val="606060"/>
                </a:solidFill>
                <a:latin typeface="Century Gothic"/>
              </a:rPr>
              <a:t>42484 Information Systems</a:t>
            </a:r>
          </a:p>
          <a:p>
            <a:pPr algn="r">
              <a:spcBef>
                <a:spcPts val="300"/>
              </a:spcBef>
            </a:pPr>
            <a:r>
              <a:rPr lang="en" sz="1200" b="0" dirty="0" err="1">
                <a:solidFill>
                  <a:srgbClr val="606060"/>
                </a:solidFill>
                <a:latin typeface="Century Gothic"/>
              </a:rPr>
              <a:t>Dr.sc.ing</a:t>
            </a:r>
            <a:r>
              <a:rPr lang="en" sz="1200" b="0" dirty="0">
                <a:solidFill>
                  <a:srgbClr val="606060"/>
                </a:solidFill>
                <a:latin typeface="Century Gothic"/>
              </a:rPr>
              <a:t>., Prof. Jelena </a:t>
            </a:r>
            <a:r>
              <a:rPr lang="en" sz="1200" b="0" dirty="0" err="1">
                <a:solidFill>
                  <a:srgbClr val="606060"/>
                </a:solidFill>
                <a:latin typeface="Century Gothic"/>
              </a:rPr>
              <a:t>Caiko</a:t>
            </a:r>
            <a:endParaRPr lang="en" sz="1200" b="0" dirty="0">
              <a:solidFill>
                <a:srgbClr val="606060"/>
              </a:solidFill>
              <a:latin typeface="Century Gothic"/>
            </a:endParaRPr>
          </a:p>
          <a:p>
            <a:pPr algn="r">
              <a:spcBef>
                <a:spcPts val="300"/>
              </a:spcBef>
            </a:pPr>
            <a:r>
              <a:rPr lang="en" sz="1200" b="0" dirty="0">
                <a:solidFill>
                  <a:srgbClr val="606060"/>
                </a:solidFill>
                <a:latin typeface="Century Gothic"/>
              </a:rPr>
              <a:t>2026</a:t>
            </a:r>
          </a:p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943600" y="41696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6576"/>
            <a:ext cx="68580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Framework of Research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914400"/>
            <a:ext cx="420624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84048" y="91440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Problem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74320" y="1261872"/>
            <a:ext cx="420624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13258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LMS platforms give direct AI answers and lack personalisation. No published system integrates RAG + Socratic dialogue + personalised tests + student DB in one platform.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09160" y="914400"/>
            <a:ext cx="4206240" cy="34747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18888" y="91440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of Study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709160" y="1261872"/>
            <a:ext cx="420624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46320" y="13258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 for educational process management.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74320" y="2926080"/>
            <a:ext cx="420624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292608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of Study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274320" y="3273552"/>
            <a:ext cx="420624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1480" y="33375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 and AI coaching module for a configurable, domain-agnostic, multi-role LMS.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709160" y="2926080"/>
            <a:ext cx="4206240" cy="3474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18888" y="292608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709160" y="3273552"/>
            <a:ext cx="420624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46320" y="33375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domain-agnostic LMS with student-profile-driven RAG and Socratic constraints will deliver a more adaptive learning experience than any existing system — confirmed by 13 peer-reviewed sources.</a:t>
            </a:r>
            <a:endParaRPr lang="en-US" sz="13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6576"/>
            <a:ext cx="68580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— What No One Did Before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17373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Socratic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Pers. 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KG-RAG  [Dong 2025]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SocraticAI  [Sunil 2025]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Canvas Quiz  [Ali 2025]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RAG-PRISM  [Lin 2025]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SmartLearn  (this work)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274320" y="4041648"/>
            <a:ext cx="859536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11480" y="404164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SmartLearn is the FIRST system to combine all four capabilities in one operational, domain-agnostic LMS. </a:t>
            </a:r>
            <a:b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concept — the backend, mobile app, and admin panel are already running.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6576"/>
            <a:ext cx="68580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/ Decisions to Solve the Problem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89611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KG-RAG [Dong et al., 2025]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13990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Graph-enhanced RAG for tutoring — +35% assessment scores (n=76). No Socratic dialogue. No personalised tests.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74320" y="19019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SocraticAI [Sunil &amp; Thakkar, 2025]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240487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guided by structured constraints — 75%+ students showed improved reasoning. No student DB. No adaptive tests.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74320" y="29077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Quiz [Ali et al., 2025]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341071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generates questions from course material. No Socratic dialogue. No profile conditioning.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74320" y="391363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[Swacha &amp; Gracel, Appl. Sci. 2025]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44165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RAG-LMS studies reviewed (2022–2025). None combine all four capabilities. Personalisation gap confirmed.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Defended Theses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914400"/>
            <a:ext cx="85953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74320" y="914400"/>
            <a:ext cx="1920240" cy="34747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84048" y="91440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been offered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11480" y="129844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Socratic AI coaching module integrated into a domain-agnostic LMS where student profile from PostgreSQL conditions both RAG retrieval and system prompt — the model cannot give direct answers.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74320" y="2240280"/>
            <a:ext cx="85953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74320" y="2240280"/>
            <a:ext cx="192024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22402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been modified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11480" y="262432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RAG pipeline — extended to condition retrieval on BOTH the query and the student's weak topics (W), errors (E), and level (ℓ). Formula: a = LLM( π(s), r(q, s, K), q 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74320" y="3566160"/>
            <a:ext cx="85953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3566160"/>
            <a:ext cx="1920240" cy="3474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84048" y="35661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been suggested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11480" y="39502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Score rubric (0–3) as evaluation method: 0 = direct answer (FAIL) · 1 = partial hint · 2 = guiding question (PASS) · 3 = question + personalised test (EXCELLENT). Adapted from Mucciaccia et al. COLING 2025.</a:t>
            </a:r>
            <a:endParaRPr lang="en-US" sz="13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Technologies?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31520"/>
            <a:ext cx="9144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64008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→ Android + iOS. Riverpod gives type-safe state with code generation.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15000" y="1005840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0058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React Native: worse for complex animations, bridge overhead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746504"/>
            <a:ext cx="64008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46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020824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RBAC, rate limiting, business logic. Production-grade reliability.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1792224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79222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Firebase alone: no complex JOINs for student analytics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532888"/>
            <a:ext cx="64008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532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2807208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for student progress. JSONB for AI logs. Complex queries for reports.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15000" y="2578608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57860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Firestore: cannot JOIN student + progress + courses tables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319272"/>
            <a:ext cx="64008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319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+ TUS Protocol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359359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upload for video files over 100 MB. S3-compatible, self-hosted.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15000" y="3364992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36499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Firebase Storage: no native resumable upload on mobile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105656"/>
            <a:ext cx="64008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105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/ GPT-4o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4379976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instruction-following for system prompt constraints. Easy to swap models.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15000" y="4151376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415137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Local Llama: lower response quality, no reliability guarantee</a:t>
            </a:r>
            <a:endParaRPr lang="en-US" sz="9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810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SmartLearn</a:t>
            </a:r>
            <a:r>
              <a:rPr lang="en-US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From Zero to Running System</a:t>
            </a: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+ App + Admin: done </a:t>
            </a:r>
            <a:br>
              <a:rPr lang="en-US" sz="1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AI Coach: in progress 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274320" y="1600200"/>
            <a:ext cx="1828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240280" y="16916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Spring Boot 4 + Java 21  ·  40+ REST API endpoints  ·  JWT authentication  ·  RBAC (3 roles: Admin, Teacher, Student)  ·  PostgreSQL database with real test data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74320" y="2404872"/>
            <a:ext cx="1828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24048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240280" y="249631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complete sections: Users · Courses · Online Courses · Groups · Session generation  ·  Full CRUD operations  ·  All roles visible and working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74320" y="3209544"/>
            <a:ext cx="1828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32095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APP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240280" y="330098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Flutter 3.38  ·  5-tab navigation: Home, Courses, Schedule, AI Tutor, Profile  ·  3 languages: English / Русский / O'zbek  ·  Profile editing (PATCH /api/v1/auth/me)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274320" y="4014216"/>
            <a:ext cx="1828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4320" y="40142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COACH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240280" y="410565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Architecture designed  ·  Socratic system prompt defined  ·  RAG pipeline planned  ·  Claude API integration is the next step</a:t>
            </a:r>
            <a:endParaRPr lang="en-US" sz="13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1371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 — a Tutor. </a:t>
            </a:r>
            <a:br>
              <a:rPr lang="ru-RU" sz="2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in the Cod</a:t>
            </a:r>
            <a:r>
              <a:rPr lang="ru-RU" sz="2000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2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pPr algn="ctr"/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The Socratic constraint — one rule, built from scratch</a:t>
            </a:r>
            <a:endParaRPr lang="ru-UZ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27432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240280" y="16916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74320" y="24048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240280" y="249631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74320" y="32095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240280" y="330098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74320" y="40142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240280" y="410565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Rectangle 21"/>
          <p:cNvSpPr/>
          <p:nvPr/>
        </p:nvSpPr>
        <p:spPr>
          <a:xfrm>
            <a:off x="2240278" y="1476423"/>
            <a:ext cx="6583682" cy="2935557"/>
          </a:xfrm>
          <a:prstGeom prst="rect">
            <a:avLst/>
          </a:prstGeom>
          <a:solidFill>
            <a:srgbClr val="1E1E2E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40279" y="1463040"/>
            <a:ext cx="6766561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dirty="0">
                <a:solidFill>
                  <a:srgbClr val="6A9955"/>
                </a:solidFill>
                <a:latin typeface="Courier New"/>
              </a:rPr>
              <a:t>// </a:t>
            </a:r>
            <a:r>
              <a:rPr sz="1050" dirty="0" err="1">
                <a:solidFill>
                  <a:srgbClr val="6A9955"/>
                </a:solidFill>
                <a:latin typeface="Courier New"/>
              </a:rPr>
              <a:t>SmartLearn</a:t>
            </a:r>
            <a:r>
              <a:rPr sz="1050" dirty="0">
                <a:solidFill>
                  <a:srgbClr val="6A9955"/>
                </a:solidFill>
                <a:latin typeface="Courier New"/>
              </a:rPr>
              <a:t> — AI Coach: Socratic Engine</a:t>
            </a:r>
          </a:p>
          <a:p>
            <a:pPr algn="l"/>
            <a:endParaRPr sz="1050" dirty="0">
              <a:solidFill>
                <a:srgbClr val="6A9955"/>
              </a:solidFill>
              <a:latin typeface="Courier New"/>
            </a:endParaRPr>
          </a:p>
          <a:p>
            <a:pPr algn="l"/>
            <a:r>
              <a:rPr sz="1050" dirty="0">
                <a:solidFill>
                  <a:srgbClr val="569CD6"/>
                </a:solidFill>
                <a:latin typeface="Courier New"/>
              </a:rPr>
              <a:t>private String </a:t>
            </a:r>
            <a:r>
              <a:rPr sz="1050" dirty="0" err="1">
                <a:solidFill>
                  <a:srgbClr val="569CD6"/>
                </a:solidFill>
                <a:latin typeface="Courier New"/>
              </a:rPr>
              <a:t>buildSystemPrompt</a:t>
            </a:r>
            <a:r>
              <a:rPr sz="1050" dirty="0">
                <a:solidFill>
                  <a:srgbClr val="569CD6"/>
                </a:solidFill>
                <a:latin typeface="Courier New"/>
              </a:rPr>
              <a:t>(</a:t>
            </a:r>
            <a:r>
              <a:rPr sz="1050" dirty="0" err="1">
                <a:solidFill>
                  <a:srgbClr val="569CD6"/>
                </a:solidFill>
                <a:latin typeface="Courier New"/>
              </a:rPr>
              <a:t>StudentProfile</a:t>
            </a:r>
            <a:r>
              <a:rPr sz="1050" dirty="0">
                <a:solidFill>
                  <a:srgbClr val="569CD6"/>
                </a:solidFill>
                <a:latin typeface="Courier New"/>
              </a:rPr>
              <a:t> student) {</a:t>
            </a: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return """</a:t>
            </a: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    You are a Socratic tutor for </a:t>
            </a:r>
            <a:r>
              <a:rPr sz="1050" dirty="0" err="1">
                <a:solidFill>
                  <a:srgbClr val="CE9178"/>
                </a:solidFill>
                <a:latin typeface="Courier New"/>
              </a:rPr>
              <a:t>SmartLearn</a:t>
            </a:r>
            <a:r>
              <a:rPr sz="1050" dirty="0">
                <a:solidFill>
                  <a:srgbClr val="CE9178"/>
                </a:solidFill>
                <a:latin typeface="Courier New"/>
              </a:rPr>
              <a:t>.</a:t>
            </a: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    NEVER give a direct answer. ALWAYS respond with a guiding question.</a:t>
            </a:r>
          </a:p>
          <a:p>
            <a:pPr algn="l"/>
            <a:endParaRPr sz="1050" dirty="0">
              <a:solidFill>
                <a:srgbClr val="CE9178"/>
              </a:solidFill>
              <a:latin typeface="Courier New"/>
            </a:endParaRP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    Student level   : %s</a:t>
            </a: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    Weak topics     : %s</a:t>
            </a: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    Recent mistakes : %s</a:t>
            </a:r>
          </a:p>
          <a:p>
            <a:pPr algn="l"/>
            <a:endParaRPr sz="1050" dirty="0">
              <a:solidFill>
                <a:srgbClr val="CE9178"/>
              </a:solidFill>
              <a:latin typeface="Courier New"/>
            </a:endParaRP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    Rule 1 — ask one question that leads the student closer to the answer.</a:t>
            </a: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    Rule 2 — if stuck, give a small hint — still as a question.</a:t>
            </a: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    Rule 3 — celebrate correct reasoning, not just the correct answer.</a:t>
            </a:r>
          </a:p>
          <a:p>
            <a:pPr algn="l"/>
            <a:r>
              <a:rPr sz="1050" dirty="0">
                <a:solidFill>
                  <a:srgbClr val="D4D4D4"/>
                </a:solidFill>
                <a:latin typeface="Courier New"/>
              </a:rPr>
              <a:t>    """.formatted(</a:t>
            </a:r>
          </a:p>
          <a:p>
            <a:pPr algn="l"/>
            <a:r>
              <a:rPr sz="1050" dirty="0">
                <a:solidFill>
                  <a:srgbClr val="9CDCFE"/>
                </a:solidFill>
                <a:latin typeface="Courier New"/>
              </a:rPr>
              <a:t>        </a:t>
            </a:r>
            <a:r>
              <a:rPr sz="1050" dirty="0" err="1">
                <a:solidFill>
                  <a:srgbClr val="9CDCFE"/>
                </a:solidFill>
                <a:latin typeface="Courier New"/>
              </a:rPr>
              <a:t>student.getLevel</a:t>
            </a:r>
            <a:r>
              <a:rPr sz="1050" dirty="0">
                <a:solidFill>
                  <a:srgbClr val="9CDCFE"/>
                </a:solidFill>
                <a:latin typeface="Courier New"/>
              </a:rPr>
              <a:t>(), </a:t>
            </a:r>
            <a:r>
              <a:rPr sz="1050" dirty="0" err="1">
                <a:solidFill>
                  <a:srgbClr val="9CDCFE"/>
                </a:solidFill>
                <a:latin typeface="Courier New"/>
              </a:rPr>
              <a:t>student.getWeakTopics</a:t>
            </a:r>
            <a:r>
              <a:rPr sz="1050" dirty="0">
                <a:solidFill>
                  <a:srgbClr val="9CDCFE"/>
                </a:solidFill>
                <a:latin typeface="Courier New"/>
              </a:rPr>
              <a:t>(), </a:t>
            </a:r>
            <a:r>
              <a:rPr sz="1050" dirty="0" err="1">
                <a:solidFill>
                  <a:srgbClr val="9CDCFE"/>
                </a:solidFill>
                <a:latin typeface="Courier New"/>
              </a:rPr>
              <a:t>student.getRecentErrors</a:t>
            </a:r>
            <a:r>
              <a:rPr sz="1050" dirty="0">
                <a:solidFill>
                  <a:srgbClr val="9CDCFE"/>
                </a:solidFill>
                <a:latin typeface="Courier New"/>
              </a:rPr>
              <a:t>()</a:t>
            </a:r>
          </a:p>
          <a:p>
            <a:pPr algn="l"/>
            <a:r>
              <a:rPr sz="1050" dirty="0">
                <a:solidFill>
                  <a:srgbClr val="D4D4D4"/>
                </a:solidFill>
                <a:latin typeface="Courier New"/>
              </a:rPr>
              <a:t>    );</a:t>
            </a:r>
          </a:p>
          <a:p>
            <a:pPr algn="l"/>
            <a:r>
              <a:rPr sz="1050" dirty="0">
                <a:solidFill>
                  <a:srgbClr val="569CD6"/>
                </a:solidFill>
                <a:latin typeface="Courier New"/>
              </a:rPr>
              <a:t>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6693" y="4429099"/>
            <a:ext cx="79374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 dirty="0">
                <a:highlight>
                  <a:srgbClr val="C0C0C0"/>
                </a:highlight>
              </a:rPr>
              <a:t>"I rewrote this function 3 times. </a:t>
            </a:r>
            <a:br>
              <a:rPr lang="en-US" sz="1200" i="1" dirty="0">
                <a:highlight>
                  <a:srgbClr val="C0C0C0"/>
                </a:highlight>
              </a:rPr>
            </a:br>
            <a:r>
              <a:rPr sz="1200" i="1" dirty="0">
                <a:highlight>
                  <a:srgbClr val="C0C0C0"/>
                </a:highlight>
              </a:rPr>
              <a:t>The single rule — never give a direct answer — is what separates </a:t>
            </a:r>
            <a:r>
              <a:rPr sz="1200" i="1" dirty="0" err="1">
                <a:highlight>
                  <a:srgbClr val="C0C0C0"/>
                </a:highlight>
              </a:rPr>
              <a:t>SmartLearn</a:t>
            </a:r>
            <a:r>
              <a:rPr sz="1200" i="1" dirty="0">
                <a:highlight>
                  <a:srgbClr val="C0C0C0"/>
                </a:highlight>
              </a:rPr>
              <a:t> from every other LMS."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A31CB6-25CA-654B-B6D5-E54A9CC2B627}"/>
              </a:ext>
            </a:extLst>
          </p:cNvPr>
          <p:cNvSpPr txBox="1"/>
          <p:nvPr/>
        </p:nvSpPr>
        <p:spPr>
          <a:xfrm>
            <a:off x="49621" y="1809921"/>
            <a:ext cx="22402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" sz="1200" dirty="0"/>
              <a:t> </a:t>
            </a:r>
            <a:r>
              <a:rPr lang="e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Takes student profile (level, weak topics, recent mistakes)</a:t>
            </a:r>
            <a:br>
              <a:rPr lang="ru-RU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</a:br>
            <a:endParaRPr lang="en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pPr marL="228600" indent="-228600">
              <a:buFont typeface="+mj-lt"/>
              <a:buAutoNum type="arabicPeriod"/>
            </a:pPr>
            <a:r>
              <a:rPr lang="e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 Builds a custom system prompt before every AI session</a:t>
            </a:r>
            <a:br>
              <a:rPr lang="ru-RU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</a:br>
            <a:endParaRPr lang="en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pPr marL="228600" indent="-228600">
              <a:buFont typeface="+mj-lt"/>
              <a:buAutoNum type="arabicPeriod"/>
            </a:pPr>
            <a:r>
              <a:rPr lang="e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One hard rule: never give a direct answer — always ask back</a:t>
            </a:r>
            <a:br>
              <a:rPr lang="ru-RU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</a:br>
            <a:endParaRPr lang="en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pPr marL="228600" indent="-228600">
              <a:buFont typeface="+mj-lt"/>
              <a:buAutoNum type="arabicPeriod"/>
            </a:pPr>
            <a:r>
              <a:rPr lang="e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That single constraint is what makes it a tutor, not a chatbot</a:t>
            </a:r>
            <a:br>
              <a:rPr lang="ru-RU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</a:br>
            <a:endParaRPr lang="en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pPr marL="228600" indent="-228600">
              <a:buFont typeface="+mj-lt"/>
              <a:buAutoNum type="arabicPeriod"/>
            </a:pPr>
            <a:r>
              <a:rPr lang="e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Rewrote this function 3 times to get the logic right</a:t>
            </a:r>
            <a:endParaRPr lang="ru-UZ" sz="1200" dirty="0"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27" name="Image 1" descr="preencoded.png">
            <a:extLst>
              <a:ext uri="{FF2B5EF4-FFF2-40B4-BE49-F238E27FC236}">
                <a16:creationId xmlns:a16="http://schemas.microsoft.com/office/drawing/2014/main" id="{BC6D5E62-50A6-8F4A-98CC-8673F80F3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3716"/>
            <a:ext cx="1234440" cy="685800"/>
          </a:xfrm>
          <a:prstGeom prst="rect">
            <a:avLst/>
          </a:prstGeom>
        </p:spPr>
      </p:pic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5403A9AD-BA60-0340-A01A-9F10E9DED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SmartLearn</a:t>
            </a:r>
            <a:r>
              <a:rPr lang="en-US" sz="2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Asks. The Student Thinks. That's the Point.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274320" y="1600200"/>
            <a:ext cx="1828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240280" y="16916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74320" y="2404872"/>
            <a:ext cx="1828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24048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92509" y="290779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· Student asks about Java polymorphism</a:t>
            </a:r>
          </a:p>
          <a:p>
            <a:pPr marL="0" indent="0">
              <a:buNone/>
            </a:pPr>
            <a:r>
              <a:rPr lang="en-US" sz="1300" dirty="0"/>
              <a:t>    → AI does not explain — it asks back</a:t>
            </a:r>
          </a:p>
          <a:p>
            <a:pPr marL="0" indent="0">
              <a:buNone/>
            </a:pPr>
            <a:r>
              <a:rPr lang="en-US" sz="1300" dirty="0"/>
              <a:t>    </a:t>
            </a:r>
          </a:p>
          <a:p>
            <a:pPr marL="0" indent="0">
              <a:buNone/>
            </a:pPr>
            <a:r>
              <a:rPr lang="en-US" sz="1300" dirty="0"/>
              <a:t>  · "What does 'polymorphism' mean in Greek?"</a:t>
            </a:r>
          </a:p>
          <a:p>
            <a:pPr marL="0" indent="0">
              <a:buNone/>
            </a:pPr>
            <a:r>
              <a:rPr lang="en-US" sz="1300" dirty="0"/>
              <a:t>    — that one question leads to the answer</a:t>
            </a:r>
          </a:p>
          <a:p>
            <a:pPr marL="0" indent="0">
              <a:buNone/>
            </a:pPr>
            <a:r>
              <a:rPr lang="en-US" sz="1300" dirty="0"/>
              <a:t>    </a:t>
            </a:r>
          </a:p>
          <a:p>
            <a:pPr marL="0" indent="0">
              <a:buNone/>
            </a:pPr>
            <a:r>
              <a:rPr lang="en-US" sz="1300" dirty="0"/>
              <a:t>  · The AI knows the student's level and weak topics</a:t>
            </a:r>
          </a:p>
          <a:p>
            <a:pPr marL="0" indent="0">
              <a:buNone/>
            </a:pPr>
            <a:r>
              <a:rPr lang="en-US" sz="1300" dirty="0"/>
              <a:t>    — every response is </a:t>
            </a:r>
            <a:r>
              <a:rPr lang="en-US" sz="1300" dirty="0" err="1"/>
              <a:t>personalised</a:t>
            </a:r>
            <a:r>
              <a:rPr lang="en-US" sz="1300" dirty="0"/>
              <a:t>, not generic</a:t>
            </a:r>
          </a:p>
          <a:p>
            <a:pPr marL="0" indent="0">
              <a:buNone/>
            </a:pPr>
            <a:r>
              <a:rPr lang="en-US" sz="1300" dirty="0"/>
              <a:t>    </a:t>
            </a:r>
          </a:p>
          <a:p>
            <a:pPr marL="0" indent="0">
              <a:buNone/>
            </a:pPr>
            <a:r>
              <a:rPr lang="en-US" sz="1300" dirty="0"/>
              <a:t>  · Built in Flutter · Spring Boot · Claude API</a:t>
            </a:r>
          </a:p>
          <a:p>
            <a:pPr marL="0" indent="0">
              <a:buNone/>
            </a:pPr>
            <a:r>
              <a:rPr lang="en-US" sz="1300" dirty="0"/>
              <a:t>    — one question away from full integration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ru-RU" sz="1300" dirty="0"/>
              <a:t>"</a:t>
            </a:r>
            <a:r>
              <a:rPr lang="en-US" sz="1300" dirty="0"/>
              <a:t>The AI answered a question with a question.</a:t>
            </a:r>
          </a:p>
          <a:p>
            <a:pPr marL="0" indent="0">
              <a:buNone/>
            </a:pPr>
            <a:r>
              <a:rPr lang="en-US" sz="1300" dirty="0"/>
              <a:t>   That's not a bug — that's the whole idea."</a:t>
            </a:r>
          </a:p>
        </p:txBody>
      </p:sp>
      <p:sp>
        <p:nvSpPr>
          <p:cNvPr id="15" name="Shape 11"/>
          <p:cNvSpPr/>
          <p:nvPr/>
        </p:nvSpPr>
        <p:spPr>
          <a:xfrm>
            <a:off x="274320" y="3209544"/>
            <a:ext cx="1828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32095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240280" y="330098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274320" y="4014216"/>
            <a:ext cx="1828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4320" y="40142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426134" y="382676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5C1CCE-ED8D-E943-B300-A70520766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09344"/>
            <a:ext cx="1828800" cy="328635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F1EC057-147B-A54F-909D-3C4F0B057AAE}"/>
              </a:ext>
            </a:extLst>
          </p:cNvPr>
          <p:cNvSpPr txBox="1"/>
          <p:nvPr/>
        </p:nvSpPr>
        <p:spPr>
          <a:xfrm>
            <a:off x="1960209" y="878639"/>
            <a:ext cx="5772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"Live Socratic session: the AI guides, the student discovers."</a:t>
            </a:r>
            <a:endParaRPr lang="ru-UZ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E56B1F-C9A5-4A49-83C4-BAFC5653E456}"/>
              </a:ext>
            </a:extLst>
          </p:cNvPr>
          <p:cNvSpPr txBox="1"/>
          <p:nvPr/>
        </p:nvSpPr>
        <p:spPr>
          <a:xfrm>
            <a:off x="5449824" y="20116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Z" dirty="0"/>
          </a:p>
        </p:txBody>
      </p:sp>
      <p:pic>
        <p:nvPicPr>
          <p:cNvPr id="34" name="Image 1" descr="preencoded.png">
            <a:extLst>
              <a:ext uri="{FF2B5EF4-FFF2-40B4-BE49-F238E27FC236}">
                <a16:creationId xmlns:a16="http://schemas.microsoft.com/office/drawing/2014/main" id="{767A814C-8C3C-DB42-B54E-5A24C7AAF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3716"/>
            <a:ext cx="1234440" cy="685800"/>
          </a:xfrm>
          <a:prstGeom prst="rect">
            <a:avLst/>
          </a:prstGeom>
        </p:spPr>
      </p:pic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0A7DA214-02CE-3748-92F2-786D5CDC5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Socratic AI Coach Works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31520" y="914400"/>
            <a:ext cx="685800" cy="685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9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1426464" y="1261872"/>
            <a:ext cx="530352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01168" y="1737360"/>
            <a:ext cx="1691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2608" y="18105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92608" y="21488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'How does SQL injection work?'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496312" y="914400"/>
            <a:ext cx="685800" cy="6858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496312" y="9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191256" y="1261872"/>
            <a:ext cx="530352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965960" y="1737360"/>
            <a:ext cx="1691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057400" y="18105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loaded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057400" y="21488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+ weak topics + errors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PostgreSQL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261104" y="914400"/>
            <a:ext cx="685800" cy="68580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61104" y="9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4956048" y="1261872"/>
            <a:ext cx="530352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730752" y="1737360"/>
            <a:ext cx="1691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822192" y="18105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822192" y="21488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course material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knowledge base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025896" y="914400"/>
            <a:ext cx="685800" cy="6858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025896" y="9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6720840" y="1261872"/>
            <a:ext cx="530352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495544" y="1737360"/>
            <a:ext cx="1691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586984" y="18105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586984" y="21488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— constrained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system prompt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7790688" y="914400"/>
            <a:ext cx="685800" cy="68580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790688" y="9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Shape 29"/>
          <p:cNvSpPr/>
          <p:nvPr/>
        </p:nvSpPr>
        <p:spPr>
          <a:xfrm>
            <a:off x="7260336" y="1737360"/>
            <a:ext cx="1691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351776" y="18105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question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7351776" y="21488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 happens if user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not sanitised?'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201168" y="3547872"/>
            <a:ext cx="8741664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47472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347472" y="3813048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answer to this task?
</a:t>
            </a: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Interesting. What do you think happens to user input before it reaches the database?</a:t>
            </a:r>
            <a:endParaRPr lang="en-US" sz="1300" dirty="0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Interactions and Data Flow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01168" y="896112"/>
            <a:ext cx="278892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" y="89611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01168" y="1280160"/>
            <a:ext cx="278892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65760" y="1426464"/>
            <a:ext cx="109728" cy="10972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13716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Creates/removes courses, users, domains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1975104"/>
            <a:ext cx="109728" cy="10972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19202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system-wide settings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523744"/>
            <a:ext cx="109728" cy="10972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246888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 needed — template-based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172968" y="896112"/>
            <a:ext cx="278892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172968" y="89611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3172968" y="1280160"/>
            <a:ext cx="278892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337560" y="1426464"/>
            <a:ext cx="109728" cy="10972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20440" y="13716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lessons and uploads materials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337560" y="1975104"/>
            <a:ext cx="109728" cy="10972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20440" y="19202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student analytics per topic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337560" y="2523744"/>
            <a:ext cx="109728" cy="10972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20440" y="246888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class performance reports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144768" y="896112"/>
            <a:ext cx="2788920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144768" y="89611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6144768" y="1280160"/>
            <a:ext cx="278892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309360" y="1426464"/>
            <a:ext cx="109728" cy="10972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92240" y="13716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 in courses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309360" y="1975104"/>
            <a:ext cx="109728" cy="10972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92240" y="19202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with Socratic AI Coach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309360" y="2523744"/>
            <a:ext cx="109728" cy="10972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492240" y="246888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stored in student_progress DB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201168" y="3291840"/>
            <a:ext cx="8741664" cy="98755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47472" y="3310128"/>
            <a:ext cx="84124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loop: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chats with AI Coach → interaction stored in </a:t>
            </a: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student_progress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(weak_topics[], recent_errors[]) → </a:t>
            </a: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reads analytics → </a:t>
            </a: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monitors platform. JWT + RBAC enforces access at API level.</a:t>
            </a:r>
            <a:endParaRPr lang="en-US" sz="1300" dirty="0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6576"/>
            <a:ext cx="68580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 Status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01168" y="896112"/>
            <a:ext cx="278892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92608" y="896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Done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01168" y="1280160"/>
            <a:ext cx="2788920" cy="33101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38328" y="13716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Backend API — all endpoints working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8328" y="193852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Admin Panel — 5 sections complete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8328" y="250545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Student App — 5 tabs, 3 languages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172968" y="896112"/>
            <a:ext cx="278892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64408" y="896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In Progress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172968" y="1280160"/>
            <a:ext cx="2788920" cy="33101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10128" y="13716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Coach — system design ready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10128" y="193852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Claude API — integration started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10128" y="250545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System prompt — Socratic rules set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10128" y="30723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RAG pipeline — architecture defined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310128" y="363931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144768" y="896112"/>
            <a:ext cx="2788920" cy="3840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36208" y="896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Next Steps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144768" y="1280160"/>
            <a:ext cx="2788920" cy="33101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81928" y="13716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Connect Claude API to backend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281928" y="193852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Run Socratic Score evaluation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281928" y="250545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Collect student feedback data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01168" y="4663440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70 % milestone — system is live and running · AI integration is the final phase</a:t>
            </a:r>
            <a:endParaRPr lang="en-US" sz="10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Conclusion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960120"/>
            <a:ext cx="438912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960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04672" y="978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completed: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761488" y="978408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13 sources, gap analysis confirmed, Bloom's Taxonomy framework.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74320" y="1801368"/>
            <a:ext cx="438912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04672" y="18196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completed: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61488" y="1819656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implemented — Flutter mobile app + Spring Boot backend + PostgreSQL database. Admin, Teacher, and Student roles all working.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74320" y="2642616"/>
            <a:ext cx="438912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2642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04672" y="26609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in progress: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761488" y="2660904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designed — Socratic constraints defined, RAG pipeline planned, system prompt ready. Claude API integration is the next and final step.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274320" y="3520440"/>
            <a:ext cx="8595360" cy="11430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11480" y="35478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CONFIRMED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11480" y="3813048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SmartLearn is the FIRST system to combine RAG + Socratic dialogue + personalised student profile in one working LMS. Confirmed by 13 peer-reviewed sources (2023–2025). Backend + App + Admin Panel are live. AI integration is next.</a:t>
            </a:r>
            <a:endParaRPr lang="en-US" sz="13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6576"/>
            <a:ext cx="178308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14400" y="16459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Shape 2"/>
          <p:cNvSpPr/>
          <p:nvPr/>
        </p:nvSpPr>
        <p:spPr>
          <a:xfrm>
            <a:off x="3200400" y="2542032"/>
            <a:ext cx="2743200" cy="0"/>
          </a:xfrm>
          <a:prstGeom prst="line">
            <a:avLst/>
          </a:prstGeom>
          <a:noFill/>
          <a:ln w="12700">
            <a:solidFill>
              <a:srgbClr val="8B1A2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2788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Kurbanov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Azimjon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1440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74320" y="3703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74320" y="40050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Dong et al. KG-RAG arXiv:2311.17696  ·  Spriggs et al. Adaptive LMS arXiv:2502.08655  ·  Lin et al. RAG-PRISM arXiv:2509.00646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74320" y="430682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Cohn et al. LC-RAG arXiv:2505.17238  ·  Sunil &amp; Thakkar SocraticAI arXiv:2512.03501  ·  Favero et al. arXiv:2409.05511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46085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Ali et al. Canvas Quiz CEUR-WS Vol-4076  ·  Mucciaccia et al. MCQ COLING 2025  ·  Swacha &amp; Gracel MDPI Appl.Sci.15(8):4234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1653</Words>
  <Application>Microsoft Macintosh PowerPoint</Application>
  <PresentationFormat>Экран (16:9)</PresentationFormat>
  <Paragraphs>213</Paragraphs>
  <Slides>14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Apple Symbols</vt:lpstr>
      <vt:lpstr>Arial</vt:lpstr>
      <vt:lpstr>Calibri</vt:lpstr>
      <vt:lpstr>Century Gothic</vt:lpstr>
      <vt:lpstr>Consolas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aziimkrbnv@gmail.com</cp:lastModifiedBy>
  <cp:revision>4</cp:revision>
  <dcterms:created xsi:type="dcterms:W3CDTF">2026-04-23T06:35:02Z</dcterms:created>
  <dcterms:modified xsi:type="dcterms:W3CDTF">2026-05-19T07:26:04Z</dcterms:modified>
</cp:coreProperties>
</file>